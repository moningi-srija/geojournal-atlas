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4c1c107f642c0" /><Relationship Type="http://schemas.openxmlformats.org/officeDocument/2006/relationships/extended-properties" Target="/docProps/app.xml" Id="R4473934e1a794b5d" /><Relationship Type="http://schemas.openxmlformats.org/officeDocument/2006/relationships/officeDocument" Target="/ppt/presentation.xml" Id="R8e396eb7536f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83bce956b432f"/>
  </p:sldMasterIdLst>
  <p:notesMasterIdLst>
    <p:notesMasterId xmlns:r="http://schemas.openxmlformats.org/officeDocument/2006/relationships" r:id="R1d5faa26b7a3482a"/>
  </p:notesMasterIdLst>
  <p:sldIdLst>
    <p:sldId xmlns:r="http://schemas.openxmlformats.org/officeDocument/2006/relationships" id="256" r:id="R513e072da1864fde"/>
    <p:sldId xmlns:r="http://schemas.openxmlformats.org/officeDocument/2006/relationships" id="257" r:id="Rfcf7994b3e964c57"/>
    <p:sldId xmlns:r="http://schemas.openxmlformats.org/officeDocument/2006/relationships" id="258" r:id="R6f53bb47b80a4b7d"/>
    <p:sldId xmlns:r="http://schemas.openxmlformats.org/officeDocument/2006/relationships" id="259" r:id="Rac203736eac74388"/>
    <p:sldId xmlns:r="http://schemas.openxmlformats.org/officeDocument/2006/relationships" id="260" r:id="Rbcc18e6821ac4f27"/>
    <p:sldId xmlns:r="http://schemas.openxmlformats.org/officeDocument/2006/relationships" id="261" r:id="R648f79db76a84632"/>
    <p:sldId xmlns:r="http://schemas.openxmlformats.org/officeDocument/2006/relationships" id="262" r:id="R1223739081d442e8"/>
    <p:sldId xmlns:r="http://schemas.openxmlformats.org/officeDocument/2006/relationships" id="263" r:id="Rafa451eb574f472f"/>
    <p:sldId xmlns:r="http://schemas.openxmlformats.org/officeDocument/2006/relationships" id="264" r:id="R9f7e46443abf47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76f937c6d84c9b" /><Relationship Type="http://schemas.openxmlformats.org/officeDocument/2006/relationships/slideMaster" Target="/ppt/slideMasters/slideMaster1.xml" Id="R16a83bce956b432f" /><Relationship Type="http://schemas.openxmlformats.org/officeDocument/2006/relationships/notesMaster" Target="/ppt/notesMasters/notesMaster1.xml" Id="R1d5faa26b7a3482a" /><Relationship Type="http://schemas.openxmlformats.org/officeDocument/2006/relationships/presProps" Target="/ppt/presProps.xml" Id="Rc99d0c5907e8466a" /><Relationship Type="http://schemas.openxmlformats.org/officeDocument/2006/relationships/tableStyles" Target="/ppt/tableStyles.xml" Id="R89b27f0415bf4e70" /><Relationship Type="http://schemas.openxmlformats.org/officeDocument/2006/relationships/slide" Target="/ppt/slides/slide1.xml" Id="R513e072da1864fde" /><Relationship Type="http://schemas.openxmlformats.org/officeDocument/2006/relationships/slide" Target="/ppt/slides/slide2.xml" Id="Rfcf7994b3e964c57" /><Relationship Type="http://schemas.openxmlformats.org/officeDocument/2006/relationships/slide" Target="/ppt/slides/slide3.xml" Id="R6f53bb47b80a4b7d" /><Relationship Type="http://schemas.openxmlformats.org/officeDocument/2006/relationships/slide" Target="/ppt/slides/slide4.xml" Id="Rac203736eac74388" /><Relationship Type="http://schemas.openxmlformats.org/officeDocument/2006/relationships/slide" Target="/ppt/slides/slide5.xml" Id="Rbcc18e6821ac4f27" /><Relationship Type="http://schemas.openxmlformats.org/officeDocument/2006/relationships/slide" Target="/ppt/slides/slide6.xml" Id="R648f79db76a84632" /><Relationship Type="http://schemas.openxmlformats.org/officeDocument/2006/relationships/slide" Target="/ppt/slides/slide7.xml" Id="R1223739081d442e8" /><Relationship Type="http://schemas.openxmlformats.org/officeDocument/2006/relationships/slide" Target="/ppt/slides/slide8.xml" Id="Rafa451eb574f472f" /><Relationship Type="http://schemas.openxmlformats.org/officeDocument/2006/relationships/slide" Target="/ppt/slides/slide9.xml" Id="R9f7e46443abf47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9f2d00b88349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ceebc0484143a5" /><Relationship Type="http://schemas.openxmlformats.org/officeDocument/2006/relationships/notesMaster" Target="/ppt/notesMasters/notesMaster1.xml" Id="R53665587f37e4c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1d6cba21114ae4" /><Relationship Type="http://schemas.openxmlformats.org/officeDocument/2006/relationships/notesMaster" Target="/ppt/notesMasters/notesMaster1.xml" Id="R9a6b0ed178b64a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3b84229d4f4b1c" /><Relationship Type="http://schemas.openxmlformats.org/officeDocument/2006/relationships/notesMaster" Target="/ppt/notesMasters/notesMaster1.xml" Id="Rf5f9162c9d5b43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e89ee370884b61" /><Relationship Type="http://schemas.openxmlformats.org/officeDocument/2006/relationships/notesMaster" Target="/ppt/notesMasters/notesMaster1.xml" Id="R33af9230aca844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31eeafdfc64279" /><Relationship Type="http://schemas.openxmlformats.org/officeDocument/2006/relationships/notesMaster" Target="/ppt/notesMasters/notesMaster1.xml" Id="R38a4c0e8e09d4a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b0b5c836fe48c9" /><Relationship Type="http://schemas.openxmlformats.org/officeDocument/2006/relationships/notesMaster" Target="/ppt/notesMasters/notesMaster1.xml" Id="R0107cfb862b849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911afb7a304cb2" /><Relationship Type="http://schemas.openxmlformats.org/officeDocument/2006/relationships/notesMaster" Target="/ppt/notesMasters/notesMaster1.xml" Id="Rd2e8f793a34a46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703119fe3a4dbc" /><Relationship Type="http://schemas.openxmlformats.org/officeDocument/2006/relationships/notesMaster" Target="/ppt/notesMasters/notesMaster1.xml" Id="R0a443746c76b4b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385a853e644c39" /><Relationship Type="http://schemas.openxmlformats.org/officeDocument/2006/relationships/notesMaster" Target="/ppt/notesMasters/notesMaster1.xml" Id="Ra0f23d134df24b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e766340c1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c99a736a1649da" /><Relationship Type="http://schemas.openxmlformats.org/officeDocument/2006/relationships/slideLayout" Target="/ppt/slideLayouts/slideLayout1.xml" Id="R443ea1701de844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3ea1701de844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1be3a98c84740" /><Relationship Type="http://schemas.openxmlformats.org/officeDocument/2006/relationships/image" Target="/ppt/media/image.jpeg" Id="R2ac5b2526a6542d0" /><Relationship Type="http://schemas.openxmlformats.org/officeDocument/2006/relationships/notesSlide" Target="/ppt/notesSlides/notesSlide1.xml" Id="R36b1fad913df4b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d83bdbc6d4afb" /><Relationship Type="http://schemas.openxmlformats.org/officeDocument/2006/relationships/notesSlide" Target="/ppt/notesSlides/notesSlide2.xml" Id="R727c8bd18007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b1b43087c44a6" /><Relationship Type="http://schemas.openxmlformats.org/officeDocument/2006/relationships/image" Target="/ppt/media/image2.jpeg" Id="R93e721e5a4904e76" /><Relationship Type="http://schemas.openxmlformats.org/officeDocument/2006/relationships/notesSlide" Target="/ppt/notesSlides/notesSlide3.xml" Id="R1fa8044930d84a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94c37578347df" /><Relationship Type="http://schemas.openxmlformats.org/officeDocument/2006/relationships/image" Target="/ppt/media/image3.jpeg" Id="Rc950fd08a4424121" /><Relationship Type="http://schemas.openxmlformats.org/officeDocument/2006/relationships/notesSlide" Target="/ppt/notesSlides/notesSlide4.xml" Id="R8577efbaa098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1cfea730d4f3f" /><Relationship Type="http://schemas.openxmlformats.org/officeDocument/2006/relationships/image" Target="/ppt/media/image4.jpeg" Id="Re9d1dad7d08b4f4c" /><Relationship Type="http://schemas.openxmlformats.org/officeDocument/2006/relationships/notesSlide" Target="/ppt/notesSlides/notesSlide5.xml" Id="R832cbff0dea445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299a0c9ef484b" /><Relationship Type="http://schemas.openxmlformats.org/officeDocument/2006/relationships/image" Target="/ppt/media/image5.jpeg" Id="Rd29081ec9a664d36" /><Relationship Type="http://schemas.openxmlformats.org/officeDocument/2006/relationships/notesSlide" Target="/ppt/notesSlides/notesSlide6.xml" Id="Rcca1573991544b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b9a4942844308" /><Relationship Type="http://schemas.openxmlformats.org/officeDocument/2006/relationships/image" Target="/ppt/media/image6.jpeg" Id="Rabef193866864dba" /><Relationship Type="http://schemas.openxmlformats.org/officeDocument/2006/relationships/notesSlide" Target="/ppt/notesSlides/notesSlide7.xml" Id="Ra3a1e5bc72b74c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914dfe2eb4ebc" /><Relationship Type="http://schemas.openxmlformats.org/officeDocument/2006/relationships/image" Target="/ppt/media/image7.jpeg" Id="R0ccd9e69ffd84190" /><Relationship Type="http://schemas.openxmlformats.org/officeDocument/2006/relationships/image" Target="/ppt/media/image8.jpeg" Id="Rc02e653820dc4292" /><Relationship Type="http://schemas.openxmlformats.org/officeDocument/2006/relationships/notesSlide" Target="/ppt/notesSlides/notesSlide8.xml" Id="Radba6ba0680a48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3919a14894b7e" /><Relationship Type="http://schemas.openxmlformats.org/officeDocument/2006/relationships/image" Target="/ppt/media/image.png" Id="Rd933b35101384e01" /><Relationship Type="http://schemas.openxmlformats.org/officeDocument/2006/relationships/notesSlide" Target="/ppt/notesSlides/notesSlide9.xml" Id="Rdeca0d09c3f646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8ED70-0DE1-4B4B-AD41-39A37208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"/>
            <a:ext cx="6610350" cy="63246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5b2526a6542d0"/>
          <a:srcRect xmlns:a="http://schemas.openxmlformats.org/drawingml/2006/main" l="20573" t="0" r="205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342900"/>
            <a:ext cx="6457950" cy="61722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FD13C-6EC5-4F95-B1EC-7E2FAD7E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91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/>
          </a:solidFill>
          <a:ln xmlns:a="http://schemas.openxmlformats.org/drawingml/2006/main" w="0">
            <a:solidFill>
              <a:srgbClr val="05070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8FAF9-4658-4862-B92F-4B384333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E6D3"/>
          </a:solidFill>
          <a:ln xmlns:a="http://schemas.openxmlformats.org/drawingml/2006/main" w="0">
            <a:solidFill>
              <a:srgbClr val="7DE6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AB9C8-08F9-46F2-BE5B-7FD99010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E6D3"/>
                </a:solidFill>
              </a:defRPr>
            </a:pPr>
            <a:r>
              <a:rPr sz="1200" b="1">
                <a:solidFill>
                  <a:srgbClr val="7DE6D3"/>
                </a:solidFill>
              </a:rPr>
              <a:t>GEOJOURNAL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07144-B987-42D2-927B-46326759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1719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7FA"/>
                </a:solidFill>
              </a:defRPr>
            </a:pPr>
            <a:r>
              <a:rPr sz="4350" b="1">
                <a:solidFill>
                  <a:srgbClr val="F4F7FA"/>
                </a:solidFill>
              </a:rPr>
              <a:t>Every journey</a:t>
            </a:r>
          </a:p>
          <a:p xmlns:a="http://schemas.openxmlformats.org/drawingml/2006/main">
            <a:pPr algn="l">
              <a:defRPr sz="4350" b="1">
                <a:solidFill>
                  <a:srgbClr val="F4F7FA"/>
                </a:solidFill>
              </a:defRPr>
            </a:pPr>
            <a:r>
              <a:rPr sz="4350" b="1">
                <a:solidFill>
                  <a:srgbClr val="F4F7FA"/>
                </a:solidFill>
              </a:rPr>
              <a:t>deserves its</a:t>
            </a:r>
          </a:p>
          <a:p xmlns:a="http://schemas.openxmlformats.org/drawingml/2006/main">
            <a:pPr algn="l">
              <a:defRPr sz="4350" b="1">
                <a:solidFill>
                  <a:srgbClr val="F4F7FA"/>
                </a:solidFill>
              </a:defRPr>
            </a:pPr>
            <a:r>
              <a:rPr sz="4350" b="1">
                <a:solidFill>
                  <a:srgbClr val="F4F7FA"/>
                </a:solidFill>
              </a:rPr>
              <a:t>own world.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22A46-46EA-479F-9F14-6740C9D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4C1"/>
                </a:solidFill>
              </a:defRPr>
            </a:pPr>
            <a:r>
              <a:rPr sz="1650" b="0">
                <a:solidFill>
                  <a:srgbClr val="A8B4C1"/>
                </a:solidFill>
              </a:rPr>
              <a:t>A living 3D Memory Atlas that turns scattered travel history into something you can search, relive, plan from and share.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9F0A4-9DA4-410D-AA2A-1EA87A56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</a:defRPr>
            </a:pPr>
            <a:r>
              <a:rPr sz="1350" b="1">
                <a:solidFill>
                  <a:srgbClr val="F4F7FA"/>
                </a:solidFill>
              </a:rPr>
              <a:t>Srija Moningi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538DA-6D25-4E23-B88F-4B2CA2CC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83"/>
                </a:solidFill>
              </a:defRPr>
            </a:pPr>
            <a:r>
              <a:rPr sz="1050" b="0">
                <a:solidFill>
                  <a:srgbClr val="667483"/>
                </a:solidFill>
              </a:rPr>
              <a:t>IIT Bombay CSE ’25 · Platform Software Engineer, Oracle</a:t>
            </a:r>
          </a:p>
        </p:txBody>
      </p:sp>
    </p:spTree>
    <p:extLst>
      <p:ext uri="{BB962C8B-B14F-4D97-AF65-F5344CB8AC3E}">
        <p14:creationId xmlns:p14="http://schemas.microsoft.com/office/powerpoint/2010/main" val="852103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8C0AD-9536-4F5F-8F2D-002E01D8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42215-88FD-44B4-B91C-B829944C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A"/>
                </a:solidFill>
              </a:defRPr>
            </a:pPr>
            <a:r>
              <a:rPr sz="3450" b="1">
                <a:solidFill>
                  <a:srgbClr val="F4F7FA"/>
                </a:solidFill>
              </a:rPr>
              <a:t>Travel memories survive. Their meaning gets fragmented.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803BB-0726-4AA3-BF0D-247FB2E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4C1"/>
                </a:solidFill>
              </a:defRPr>
            </a:pPr>
            <a:r>
              <a:rPr sz="1725" b="0">
                <a:solidFill>
                  <a:srgbClr val="A8B4C1"/>
                </a:solidFill>
              </a:rPr>
              <a:t>Photos keep the image. Maps keep the location. Journals keep the feeling. Planning tools ask us to start again.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A3915-D20E-43E1-A129-9F9BD7B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1"/>
          </a:solidFill>
          <a:ln xmlns:a="http://schemas.openxmlformats.org/drawingml/2006/main" w="0">
            <a:solidFill>
              <a:srgbClr val="2231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EDC83-DC04-4D8A-AAE7-0A431E2F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768"/>
                </a:solidFill>
              </a:defRPr>
            </a:pPr>
            <a:r>
              <a:rPr sz="975" b="1">
                <a:solidFill>
                  <a:srgbClr val="FFB768"/>
                </a:solidFill>
              </a:rPr>
              <a:t>PHOTOS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2A60E-6304-4474-9F59-FEAE51D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A"/>
                </a:solidFill>
              </a:defRPr>
            </a:pPr>
            <a:r>
              <a:rPr sz="2250" b="1">
                <a:solidFill>
                  <a:srgbClr val="F4F7FA"/>
                </a:solidFill>
              </a:rPr>
              <a:t>What it looked like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67D1C-6B86-4859-AC75-D89E9834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1"/>
                </a:solidFill>
              </a:defRPr>
            </a:pPr>
            <a:r>
              <a:rPr sz="1425" b="0">
                <a:solidFill>
                  <a:srgbClr val="A8B4C1"/>
                </a:solidFill>
              </a:rPr>
              <a:t>Thousands of moments, but weak memory of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153E5-868F-4B2F-AD2F-A1270FE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1"/>
          </a:solidFill>
          <a:ln xmlns:a="http://schemas.openxmlformats.org/drawingml/2006/main" w="0">
            <a:solidFill>
              <a:srgbClr val="2231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0EAA7-E266-4137-A4CC-5A18EA1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B8FF"/>
                </a:solidFill>
              </a:defRPr>
            </a:pPr>
            <a:r>
              <a:rPr sz="975" b="1">
                <a:solidFill>
                  <a:srgbClr val="79B8FF"/>
                </a:solidFill>
              </a:rPr>
              <a:t>MAPS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81F82-04D6-4D89-A648-F496C17F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A"/>
                </a:solidFill>
              </a:defRPr>
            </a:pPr>
            <a:r>
              <a:rPr sz="2250" b="1">
                <a:solidFill>
                  <a:srgbClr val="F4F7FA"/>
                </a:solidFill>
              </a:rPr>
              <a:t>Where it happened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EE7B7-56B4-49C6-ADFB-FDD9E747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00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1"/>
                </a:solidFill>
              </a:defRPr>
            </a:pPr>
            <a:r>
              <a:rPr sz="1425" b="0">
                <a:solidFill>
                  <a:srgbClr val="A8B4C1"/>
                </a:solidFill>
              </a:rPr>
              <a:t>Pins and routes, but almost none of the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D8E0D-DECB-4AF8-B9A4-ECDB70AD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6705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1"/>
          </a:solidFill>
          <a:ln xmlns:a="http://schemas.openxmlformats.org/drawingml/2006/main" w="0">
            <a:solidFill>
              <a:srgbClr val="2231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4D1EE-CB58-4ACC-9583-C82AEB2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A5FF"/>
                </a:solidFill>
              </a:defRPr>
            </a:pPr>
            <a:r>
              <a:rPr sz="975" b="1">
                <a:solidFill>
                  <a:srgbClr val="B9A5FF"/>
                </a:solidFill>
              </a:rPr>
              <a:t>JOURNALS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AC99E-6564-4544-9751-70625E1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A"/>
                </a:solidFill>
              </a:defRPr>
            </a:pPr>
            <a:r>
              <a:rPr sz="2250" b="1">
                <a:solidFill>
                  <a:srgbClr val="F4F7FA"/>
                </a:solidFill>
              </a:rPr>
              <a:t>Why it mattered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710F6-0B81-4D9F-A35A-B5CE3FEF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1"/>
                </a:solidFill>
              </a:defRPr>
            </a:pPr>
            <a:r>
              <a:rPr sz="1425" b="0">
                <a:solidFill>
                  <a:srgbClr val="A8B4C1"/>
                </a:solidFill>
              </a:rPr>
              <a:t>Rich reflection, but disconnected from place and discovery.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449A2-A09C-4D4B-8017-0C2FB9FC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DE6D3"/>
                </a:solidFill>
              </a:defRPr>
            </a:pPr>
            <a:r>
              <a:rPr sz="2250" b="1">
                <a:solidFill>
                  <a:srgbClr val="7DE6D3"/>
                </a:solidFill>
              </a:rPr>
              <a:t>The memory is not missing. The connection 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3D82E-842B-4A4C-8D62-658528FE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GEOJOURNAL · MEMORY ATLAS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9E047-D353-42BD-B7B2-386BFF8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7764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6D6F9-968A-4A80-A2DE-91FD71B9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THE DELTA-4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592E3-AB1C-440E-AAC6-E5F7252E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A"/>
                </a:solidFill>
              </a:defRPr>
            </a:pPr>
            <a:r>
              <a:rPr sz="3450" b="1">
                <a:solidFill>
                  <a:srgbClr val="F4F7FA"/>
                </a:solidFill>
              </a:rPr>
              <a:t>One Atlas reconnects place, story and people.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A50A9-CEEC-44C5-A727-A34FC2B9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4C1"/>
                </a:solidFill>
              </a:defRPr>
            </a:pPr>
            <a:r>
              <a:rPr sz="1575" b="0">
                <a:solidFill>
                  <a:srgbClr val="A8B4C1"/>
                </a:solidFill>
              </a:rPr>
              <a:t>Five jobs become one loop: import · remember · retrieve · plan · share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FD531-B7B7-4347-A702-8E74BA26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57400"/>
            <a:ext cx="62293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721e5a4904e76"/>
          <a:stretch xmlns:a="http://schemas.openxmlformats.org/drawingml/2006/main"/>
        </p:blipFill>
        <p:spPr>
          <a:xfrm xmlns:a="http://schemas.openxmlformats.org/drawingml/2006/main">
            <a:off x="5448300" y="2348508"/>
            <a:ext cx="6076950" cy="3418284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E213-1B28-4915-A2DF-F009C2AF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C1645-E910-4971-A0E6-340C2921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Spatial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2F2D-0337-4DD8-90AA-05018BD1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A high-quality WebGL globe with a familiar 2D map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38927-C896-48B6-9BDD-BA8522A0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A5FF"/>
                </a:solidFill>
              </a:defRPr>
            </a:pPr>
            <a:r>
              <a:rPr sz="1050" b="1">
                <a:solidFill>
                  <a:srgbClr val="B9A5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E92A9-D6CA-4A29-B382-F4C39B4A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Mine or Circle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99013-A53E-4C50-B3D3-DC743EA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Teal keeps my memories distinct; violet brings trusted explorers into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F16F7-F4E7-4BAF-BE54-DE75EBEA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768"/>
                </a:solidFill>
              </a:defRPr>
            </a:pPr>
            <a:r>
              <a:rPr sz="1050" b="1">
                <a:solidFill>
                  <a:srgbClr val="FFB76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3E9B0-3AD6-4BD2-A97D-79E55774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Context on every pin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00479-F407-4C88-B63F-30662C0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Place, date, photos, journal text and author stay connected.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A95E5-DA4D-4CBE-A58E-FAA777F7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20764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24A15-7299-4131-97B5-222CCDA8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E6D3"/>
                </a:solidFill>
              </a:defRPr>
            </a:pPr>
            <a:r>
              <a:rPr sz="1200" b="1">
                <a:solidFill>
                  <a:srgbClr val="7DE6D3"/>
                </a:solidFill>
              </a:rPr>
              <a:t>9 personal memories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5D081-166B-4889-952F-974009BE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53100"/>
            <a:ext cx="18859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D791D-44C3-4C64-9836-F4BEE495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769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A5FF"/>
                </a:solidFill>
              </a:defRPr>
            </a:pPr>
            <a:r>
              <a:rPr sz="1200" b="1">
                <a:solidFill>
                  <a:srgbClr val="B9A5FF"/>
                </a:solidFill>
              </a:rPr>
              <a:t>17 Circle pins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B8ECF-2D08-4FD2-916B-88BBEC0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GEOJOURNAL · MEMORY ATLAS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73437-2967-4074-A963-0A2AB866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0726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46CC8-DE5C-4E6F-86D4-ECA3B223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COLD-START 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8DB03-419A-4FBC-B330-538968F3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A"/>
                </a:solidFill>
              </a:defRPr>
            </a:pPr>
            <a:r>
              <a:rPr sz="3450" b="1">
                <a:solidFill>
                  <a:srgbClr val="F4F7FA"/>
                </a:solidFill>
              </a:rPr>
              <a:t>Start with history, not an empty globe.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35ADD-CAF4-4B32-A00C-2E533B6B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4C1"/>
                </a:solidFill>
              </a:defRPr>
            </a:pPr>
            <a:r>
              <a:rPr sz="1575" b="0">
                <a:solidFill>
                  <a:srgbClr val="A8B4C1"/>
                </a:solidFill>
              </a:rPr>
              <a:t>Google Timeline and geotagged Instagram exports become suggestions first. Nothing is silently published.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D52A4-B5C2-4B34-8948-BAE1A6C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695325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0fd08a4424121"/>
          <a:stretch xmlns:a="http://schemas.openxmlformats.org/drawingml/2006/main"/>
        </p:blipFill>
        <p:spPr>
          <a:xfrm xmlns:a="http://schemas.openxmlformats.org/drawingml/2006/main">
            <a:off x="640292" y="2228850"/>
            <a:ext cx="6739467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849ED-3581-4D4F-8327-3F112F67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B8FF"/>
                </a:solidFill>
              </a:defRPr>
            </a:pPr>
            <a:r>
              <a:rPr sz="1050" b="1">
                <a:solidFill>
                  <a:srgbClr val="79B8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EF74D-F8FF-4F41-80D6-6ED63A2D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Choose an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8CE13-A3C5-4CB1-8EE8-BA3BB271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320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Current or legacy Timeline JSON; Instagram archive rows only when coordinates exist.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5B66E-0218-4ADE-927A-E9467D27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766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768"/>
                </a:solidFill>
              </a:defRPr>
            </a:pPr>
            <a:r>
              <a:rPr sz="1050" b="1">
                <a:solidFill>
                  <a:srgbClr val="FFB76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279D0-8FA3-4F36-81EE-0E293A4B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Accept or reject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FE15B-4760-449E-861D-8D8B7BF2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20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Every suggested place stays in a human review inbox.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7E157-1673-4D4A-B1F4-8AC37EF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57767-AB4D-478C-A48B-AFD2967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Private by 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16B6F-23B1-4FEB-A324-08956FC0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0"/>
            <a:ext cx="320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Only accepted memories become pins, and users decide if they are ever shared.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EB01C-FFB5-45C9-8362-FF4B425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GEOJOURNAL · MEMORY ATLAS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0BB4F-4AAD-48A0-A57E-2D9761DC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8439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10CB2-00EA-4363-A8D8-CFBE7CF1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MEMORY UTILITY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525AB-323B-4785-8B1E-9D97C196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A"/>
                </a:solidFill>
              </a:defRPr>
            </a:pPr>
            <a:r>
              <a:rPr sz="3450" b="1">
                <a:solidFill>
                  <a:srgbClr val="F4F7FA"/>
                </a:solidFill>
              </a:rPr>
              <a:t>The Atlas gives old memories a second life.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A09B4-44A3-49BD-BEA9-4861F08E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8580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1dad7d08b4f4c"/>
          <a:stretch xmlns:a="http://schemas.openxmlformats.org/drawingml/2006/main"/>
        </p:blipFill>
        <p:spPr>
          <a:xfrm xmlns:a="http://schemas.openxmlformats.org/drawingml/2006/main">
            <a:off x="609600" y="2162175"/>
            <a:ext cx="6705600" cy="37719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575A3-AD5B-4DC9-BFDF-48F493B5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A"/>
                </a:solidFill>
              </a:defRPr>
            </a:pPr>
            <a:r>
              <a:rPr sz="2100" b="1">
                <a:solidFill>
                  <a:srgbClr val="F4F7FA"/>
                </a:solidFill>
              </a:rPr>
              <a:t>Search by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D68B9-28EC-44F3-A690-E5EB13DF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1"/>
                </a:solidFill>
              </a:defRPr>
            </a:pPr>
            <a:r>
              <a:rPr sz="1425" b="0">
                <a:solidFill>
                  <a:srgbClr val="A8B4C1"/>
                </a:solidFill>
              </a:rPr>
              <a:t>“Crimson streets” can focus Kyoto—even when the place name is never typed.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2B217-7519-4B86-9D91-CF664D84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1"/>
          </a:solidFill>
          <a:ln xmlns:a="http://schemas.openxmlformats.org/drawingml/2006/main" w="0">
            <a:solidFill>
              <a:srgbClr val="2231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262C5-3883-48FD-83D9-D44A9EBE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A"/>
                </a:solidFill>
              </a:defRPr>
            </a:pPr>
            <a:r>
              <a:rPr sz="2100" b="1">
                <a:solidFill>
                  <a:srgbClr val="F4F7FA"/>
                </a:solidFill>
              </a:rPr>
              <a:t>Rediscover on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105E4-9E89-43E1-838A-1A84605C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1"/>
                </a:solidFill>
              </a:defRPr>
            </a:pPr>
            <a:r>
              <a:rPr sz="1425" b="0">
                <a:solidFill>
                  <a:srgbClr val="A8B4C1"/>
                </a:solidFill>
              </a:rPr>
              <a:t>On this day and past-month moments make nostalgia a product habit instead of an accident.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19FE9-A784-46D7-9427-2377DA0F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57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E6D3"/>
                </a:solidFill>
              </a:defRPr>
            </a:pPr>
            <a:r>
              <a:rPr sz="1125" b="1">
                <a:solidFill>
                  <a:srgbClr val="7DE6D3"/>
                </a:solidFill>
              </a:rPr>
              <a:t>Semantic search keeps a local fallback for a stage-safe demo.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03A80-6390-4865-BCAA-56B5AE60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GEOJOURNAL · MEMORY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945D9-358F-4A55-9240-8CA71A9B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0540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FBB1A-12E8-448F-87E0-EEC40D26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NEXUS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D9910-4C7B-4F76-85C3-77F5E1F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A"/>
                </a:solidFill>
              </a:defRPr>
            </a:pPr>
            <a:r>
              <a:rPr sz="3450" b="1">
                <a:solidFill>
                  <a:srgbClr val="F4F7FA"/>
                </a:solidFill>
              </a:rPr>
              <a:t>Plan forward from the life already lived.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66657-20C0-48E5-9430-F2A4FB79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4C1"/>
                </a:solidFill>
              </a:defRPr>
            </a:pPr>
            <a:r>
              <a:rPr sz="1575" b="0">
                <a:solidFill>
                  <a:srgbClr val="A8B4C1"/>
                </a:solidFill>
              </a:rPr>
              <a:t>Nexus grounds the next trip in Atlas memories, then adds practical Trip Fit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57371-FB3C-4614-8B4A-C1DE23D4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239000" cy="40576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081ec9a664d36"/>
          <a:stretch xmlns:a="http://schemas.openxmlformats.org/drawingml/2006/main"/>
        </p:blipFill>
        <p:spPr>
          <a:xfrm xmlns:a="http://schemas.openxmlformats.org/drawingml/2006/main">
            <a:off x="681567" y="2133600"/>
            <a:ext cx="6942667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92234-F40C-4666-8A6D-B5B7B7D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A5FF"/>
                </a:solidFill>
              </a:defRPr>
            </a:pPr>
            <a:r>
              <a:rPr sz="1050" b="1">
                <a:solidFill>
                  <a:srgbClr val="B9A5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74E3B-4CB9-4AE3-82AF-3EEB0530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Atlas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9E83A-E5DA-41FC-9922-48F046D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Past places, stories and recurring preferences shape the answer.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B62DD-8C61-49C3-AF1A-F198C26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768"/>
                </a:solidFill>
              </a:defRPr>
            </a:pPr>
            <a:r>
              <a:rPr sz="1050" b="1">
                <a:solidFill>
                  <a:srgbClr val="FFB76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414E6-04CC-4D99-B9C2-08F5F6AC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Trip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44E3A-0F63-4591-A607-3E49098C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Month, leave days, home city, budget, holidays and local ICS events.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5613B-B649-4AA0-AC61-5E756E4E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D79FF-A219-4B41-8A0B-784ECB64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434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Honest infrastructure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A2733-CE83-4287-AD60-BB0CD21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863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OpenAI is configurable. Maximem Synap is active; the consented server bridge is next.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91D29-3611-47CF-A34B-113DCDD5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GEOJOURNAL · MEMORY ATLAS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77E24-45DA-4727-9836-8D6A0EAE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7461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12AC6-15EE-435F-89DA-3941870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INTENTIONAL SOCIAL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E249C-BB50-4ECE-BB2B-FB61EA9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A"/>
                </a:solidFill>
              </a:defRPr>
            </a:pPr>
            <a:r>
              <a:rPr sz="3450" b="1">
                <a:solidFill>
                  <a:srgbClr val="F4F7FA"/>
                </a:solidFill>
              </a:rPr>
              <a:t>Travel together without giving up privacy.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A7A33-FD5C-4689-9614-474CC929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4C1"/>
                </a:solidFill>
              </a:defRPr>
            </a:pPr>
            <a:r>
              <a:rPr sz="1575" b="0">
                <a:solidFill>
                  <a:srgbClr val="A8B4C1"/>
                </a:solidFill>
              </a:rPr>
              <a:t>Community is useful only when visibility and authorship remain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5F81C-3824-4C65-AAA5-CA586E2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768"/>
                </a:solidFill>
              </a:defRPr>
            </a:pPr>
            <a:r>
              <a:rPr sz="1050" b="1">
                <a:solidFill>
                  <a:srgbClr val="FFB76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5AA76-5F3F-48DF-8C33-F23CAB3E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Co-traveler consent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D0C0B-DE52-4E7D-B36D-2CC67D96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367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A shared memory appears on a friend’s Atlas only after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E780F-D227-4AB3-89A9-282B761D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A5FF"/>
                </a:solidFill>
              </a:defRPr>
            </a:pPr>
            <a:r>
              <a:rPr sz="1050" b="1">
                <a:solidFill>
                  <a:srgbClr val="B9A5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7B7D3-6171-48FC-AFEB-EAE49CE4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Friend globes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459A9-3F19-4B7C-9CDC-0EF9C174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67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Open a public profile and explore that person’s world spatially.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1F443-AA94-4F43-B5D5-F2B3523C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91CB2-6E3E-47F1-BDF2-18FF03A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Layered 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FFE8F-C85D-4742-A2F5-DDA6E8C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367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Private, close friends and public are choices made per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CA8B7-6965-4510-81F6-021E5F94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6496050" cy="41529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f193866864dba"/>
          <a:stretch xmlns:a="http://schemas.openxmlformats.org/drawingml/2006/main"/>
        </p:blipFill>
        <p:spPr>
          <a:xfrm xmlns:a="http://schemas.openxmlformats.org/drawingml/2006/main">
            <a:off x="5181600" y="2330648"/>
            <a:ext cx="6343650" cy="3568303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C7956-A02F-4FC5-94A1-6117A00E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72200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3"/>
                </a:solidFill>
              </a:defRPr>
            </a:pPr>
            <a:r>
              <a:rPr sz="975" b="0">
                <a:solidFill>
                  <a:srgbClr val="667483"/>
                </a:solidFill>
              </a:rPr>
              <a:t>Seeded presentation community · interaction design is 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00442-C85A-4901-BD0F-BC018CE5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GEOJOURNAL · MEMORY ATLAS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15E84-6DA6-40DD-ACD2-66E4F8C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835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C673E-F818-410A-A3B4-F5E952B0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86BCA-3B41-4080-9630-84F51C37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A"/>
                </a:solidFill>
              </a:defRPr>
            </a:pPr>
            <a:r>
              <a:rPr sz="3450" b="1">
                <a:solidFill>
                  <a:srgbClr val="F4F7FA"/>
                </a:solidFill>
              </a:rPr>
              <a:t>A simple subscription, then a creator economy.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4763B-AF5A-4C97-8119-119BF609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4C1"/>
                </a:solidFill>
              </a:defRPr>
            </a:pPr>
            <a:r>
              <a:rPr sz="1575" b="0">
                <a:solidFill>
                  <a:srgbClr val="A8B4C1"/>
                </a:solidFill>
              </a:rPr>
              <a:t>Users pay for a trusted travel companion—not metered AI tokens.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09DFB-3CB7-476D-9D5E-486FA8D2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37210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d9e69ffd84190"/>
          <a:stretch xmlns:a="http://schemas.openxmlformats.org/drawingml/2006/main"/>
        </p:blipFill>
        <p:spPr>
          <a:xfrm xmlns:a="http://schemas.openxmlformats.org/drawingml/2006/main">
            <a:off x="609600" y="2237184"/>
            <a:ext cx="5219700" cy="2936081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EC3C5-E66D-4F39-93D4-008713E6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31495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e653820dc4292"/>
          <a:stretch xmlns:a="http://schemas.openxmlformats.org/drawingml/2006/main"/>
        </p:blipFill>
        <p:spPr>
          <a:xfrm xmlns:a="http://schemas.openxmlformats.org/drawingml/2006/main">
            <a:off x="6362700" y="2253258"/>
            <a:ext cx="5162550" cy="2903934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739F9-FD92-4F44-85E7-8DF025F4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DE6D3"/>
                </a:solidFill>
              </a:defRPr>
            </a:pPr>
            <a:r>
              <a:rPr sz="2850" b="1">
                <a:solidFill>
                  <a:srgbClr val="7DE6D3"/>
                </a:solidFill>
              </a:rPr>
              <a:t>$6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9DB0-61D4-4E55-A3ED-4D7F36A1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monthly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764FE-66AC-4D4F-ACF2-439D0BA8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673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B768"/>
                </a:solidFill>
              </a:defRPr>
            </a:pPr>
            <a:r>
              <a:rPr sz="2850" b="1">
                <a:solidFill>
                  <a:srgbClr val="FFB768"/>
                </a:solidFill>
              </a:rPr>
              <a:t>$49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04737-A32D-4F1D-9893-EFF7270E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619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annual · 32% lower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55C13-043C-4F48-AA6C-A70F535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A"/>
                </a:solidFill>
              </a:defRPr>
            </a:pPr>
            <a:r>
              <a:rPr sz="1725" b="1">
                <a:solidFill>
                  <a:srgbClr val="F4F7FA"/>
                </a:solidFill>
              </a:rPr>
              <a:t>Creator guides · trip groups · labelled promotions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6EF92-4585-4E3C-A5EE-E04CA71E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83"/>
                </a:solidFill>
              </a:defRPr>
            </a:pPr>
            <a:r>
              <a:rPr sz="1050" b="0">
                <a:solidFill>
                  <a:srgbClr val="667483"/>
                </a:solidFill>
              </a:rPr>
              <a:t>Dodo-hosted Test Mode checkout validated · no production charge or fulfilment claimed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2B0B2-777A-4F49-AA78-106D3076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GEOJOURNAL · MEMORY ATLAS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B57D1-4E58-4CE0-A595-D7BA787A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3828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1A319-77A7-4A68-8B80-EB6569C8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"/>
            <a:ext cx="3409950" cy="3409950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3b35101384e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514350"/>
            <a:ext cx="325755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2C28D-09EB-4D61-AF85-6F28EF0F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LAUNCH AND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4970A-64BB-4050-B972-73B95726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A"/>
                </a:solidFill>
              </a:defRPr>
            </a:pPr>
            <a:r>
              <a:rPr sz="3450" b="1">
                <a:solidFill>
                  <a:srgbClr val="F4F7FA"/>
                </a:solidFill>
              </a:rPr>
              <a:t>Start with people who already curate their journeys.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DF192-0729-4390-B9B2-A7541055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85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4C1"/>
                </a:solidFill>
              </a:defRPr>
            </a:pPr>
            <a:r>
              <a:rPr sz="1650" b="0">
                <a:solidFill>
                  <a:srgbClr val="A8B4C1"/>
                </a:solidFill>
              </a:rPr>
              <a:t>Frequent independent travelers and creators are the first customer: they already keep photos, notes or map history—but cannot use them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5317F-CF4D-435C-ABA7-632C6A3A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6D3"/>
                </a:solidFill>
              </a:defRPr>
            </a:pPr>
            <a:r>
              <a:rPr sz="1050" b="1">
                <a:solidFill>
                  <a:srgbClr val="7DE6D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0BDD5-7FED-41B7-8516-9BBB71D5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613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Global product, focused 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4C4F1-9B4C-4BE8-9A12-A9EE68ED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613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Launch globally; build the first dense community through US travel clubs and creator networks.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62C31-BD56-44CC-9961-41CB26DF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A5FF"/>
                </a:solidFill>
              </a:defRPr>
            </a:pPr>
            <a:r>
              <a:rPr sz="1050" b="1">
                <a:solidFill>
                  <a:srgbClr val="B9A5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4B193-A9E0-4D18-B309-6DA820C6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613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A"/>
                </a:solidFill>
              </a:defRPr>
            </a:pPr>
            <a:r>
              <a:rPr sz="1650" b="1">
                <a:solidFill>
                  <a:srgbClr val="F4F7FA"/>
                </a:solidFill>
              </a:rPr>
              <a:t>A built-in acquisition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FB1A3-D082-4BF6-8152-577661E8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613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1"/>
                </a:solidFill>
              </a:defRPr>
            </a:pPr>
            <a:r>
              <a:rPr sz="1275" b="0">
                <a:solidFill>
                  <a:srgbClr val="A8B4C1"/>
                </a:solidFill>
              </a:rPr>
              <a:t>A shareable Atlas brings the next traveler in through a memory, not an 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032F9-7B88-4454-8E62-441230E0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3619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31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6C10A-4CC6-4C91-8BBD-64C84BD1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3067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768"/>
                </a:solidFill>
              </a:defRPr>
            </a:pPr>
            <a:r>
              <a:rPr sz="975" b="1">
                <a:solidFill>
                  <a:srgbClr val="FFB768"/>
                </a:solidFill>
              </a:rPr>
              <a:t>THE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CDF20-ABF0-4289-9304-FEC91719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96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A"/>
                </a:solidFill>
              </a:defRPr>
            </a:pPr>
            <a:r>
              <a:rPr sz="2025" b="1">
                <a:solidFill>
                  <a:srgbClr val="F4F7FA"/>
                </a:solidFill>
              </a:rPr>
              <a:t>What would make you trust GeoJournal with your full travel history?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7E469-C8B4-4158-8223-F369033B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483"/>
                </a:solidFill>
              </a:defRPr>
            </a:pPr>
            <a:r>
              <a:rPr sz="1125" b="0">
                <a:solidFill>
                  <a:srgbClr val="667483"/>
                </a:solidFill>
              </a:rPr>
              <a:t>Srija Moningi · geojournal-atlas-srija-a6b0b.web.app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8F9EC-D153-46C6-93D6-B69FD870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GEOJOURNAL · MEMORY ATLAS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18646-AA1B-499A-B790-74D1A267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483"/>
                </a:solidFill>
              </a:defRPr>
            </a:pPr>
            <a:r>
              <a:rPr sz="825" b="1">
                <a:solidFill>
                  <a:srgbClr val="66748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1927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2026-07-18T09:39:46.2480000Z</dcterms:created>
  <dcterms:modified xsi:type="dcterms:W3CDTF">2026-07-18T09:39:46.2480000Z</dcterms:modified>
</coreProperties>
</file>